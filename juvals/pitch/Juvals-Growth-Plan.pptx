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7ab34c2-e4d1-8511-7d44-c64b070a7111}">
          <p14:sldIdLst>
            <p14:sldId id="256"/>
          </p14:sldIdLst>
        </p14:section>
        <p14:section name="Today" id="{b69c6151-b189-88a9-66fd-e9540d1ea5c6}">
          <p14:sldIdLst>
            <p14:sldId id="257"/>
            <p14:sldId id="258"/>
            <p14:sldId id="259"/>
            <p14:sldId id="260"/>
          </p14:sldIdLst>
        </p14:section>
        <p14:section name="Vision" id="{549710ac-e7f7-3fac-6261-5742a3b41794}">
          <p14:sldIdLst>
            <p14:sldId id="261"/>
            <p14:sldId id="262"/>
            <p14:sldId id="263"/>
            <p14:sldId id="264"/>
            <p14:sldId id="265"/>
            <p14:sldId id="266"/>
            <p14:sldId id="267"/>
            <p14:sldId id="268"/>
            <p14:sldId id="269"/>
            <p14:sldId id="270"/>
          </p14:sldIdLst>
        </p14:section>
        <p14:section name="Plan" id="{c7e22e25-4324-b789-0c00-b813f2ed7034}">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them for the reply. Today: what they already have, where guests slip away, the system we propose and the plan. Ask what they want most from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positive. Everything here comes from their own photos and menu. The point: the product is strong, the reach and the systems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site on the TV or their phone. Show the menu search, the open-now chip, and the reserve form sending to Messenger.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road left to right. Every red box is money or a guest we lose today. Every green box is a module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to 9%: more revenue for each extra star, for independent restaurants (US Yelp study). 31%: of consumers only use businesses rated 4.5 stars or higher, up from 17% a year before (US). 1 in 4: pesos of a typical delivery app order go to commission (20 to 33% by plan). A business QR costs about 1%. 95.8M: people in the Philippines reachable by Facebook ads, 82% of the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pitch. Eight tools that usually come from eight vendors, here sharing one guest list and one sales record. That is why reports finally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ordering flow in the Mogoba demo: GCash or Maya by QR, staff confirm the money in the app, the order lands in Orders, Online. One cart for three kitchens and kitchen printing are what we add for Juval's.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projection: now 27, month 3 72, month 6 117, month 12 207. Our estimate, from the reviews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 money is paid by Juval's directly to Meta, TikTok and the creators; our fee is separate. ₱5,600 always on, about ₱16,560 in growth months, about ₱38,720 at peak. Ads, VAT and creators, paid by you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Mogoba demo here. On BIR: Hapag prints order slips, not invoices; you keep your registered invoices unless you later choose accreditation.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Mogoba stock screen on the tablet if they want to see it working. Recipes and par levels are set up with their cooks in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Payroll is prepared, not filed: the owner or bookkeeper approves. Region II minimum ₱500 a day (RTWPB 2-24). Overtime +25% (+30% on rest days and holidays), night +10%, regular holiday 200%, special day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app for the guest. Consent when we take the number. Unhappy guests reach the manager, and still see the Google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the owner will open every night. Ask what numbers they check today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here. This is why a combined system is worth more than buying a POS from one company and ads from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by stage. Each stage starts only when the one before it is used by the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only, not in the client PDF. Prices are starting points; ad spend and payment fees are paid by Juval's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our estimates. We agree the starting numbers together in week one and report against them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short. Then move to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start date, not for a yes. Offer the two-week review-card pilot as the low-risk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10E"/>
        </a:solidFill>
      </p:bgPr>
    </p:bg>
    <p:spTree>
      <p:nvGrpSpPr>
        <p:cNvPr id="1" name=""/>
        <p:cNvGrpSpPr/>
        <p:nvPr/>
      </p:nvGrpSpPr>
      <p:grpSpPr>
        <a:xfrm>
          <a:off x="0" y="0"/>
          <a:ext cx="0" cy="0"/>
          <a:chOff x="0" y="0"/>
          <a:chExt cx="0" cy="0"/>
        </a:xfrm>
      </p:grpSpPr>
      <p:pic>
        <p:nvPicPr>
          <p:cNvPr id="2" name="Image 0" descr="Everything Juval's does, connecte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10E"/>
        </a:solidFill>
      </p:bgPr>
    </p:bg>
    <p:spTree>
      <p:nvGrpSpPr>
        <p:cNvPr id="1" name=""/>
        <p:cNvGrpSpPr/>
        <p:nvPr/>
      </p:nvGrpSpPr>
      <p:grpSpPr>
        <a:xfrm>
          <a:off x="0" y="0"/>
          <a:ext cx="0" cy="0"/>
          <a:chOff x="0" y="0"/>
          <a:chExt cx="0" cy="0"/>
        </a:xfrm>
      </p:grpSpPr>
      <p:pic>
        <p:nvPicPr>
          <p:cNvPr id="2" name="Image 0" descr="People already drive here for the food and the garde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10E"/>
        </a:solidFill>
      </p:bgPr>
    </p:bg>
    <p:spTree>
      <p:nvGrpSpPr>
        <p:cNvPr id="1" name=""/>
        <p:cNvGrpSpPr/>
        <p:nvPr/>
      </p:nvGrpSpPr>
      <p:grpSpPr>
        <a:xfrm>
          <a:off x="0" y="0"/>
          <a:ext cx="0" cy="0"/>
          <a:chOff x="0" y="0"/>
          <a:chExt cx="0" cy="0"/>
        </a:xfrm>
      </p:grpSpPr>
      <p:pic>
        <p:nvPicPr>
          <p:cNvPr id="2" name="Image 0" descr="Your website is already liv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10E"/>
        </a:solidFill>
      </p:bgPr>
    </p:bg>
    <p:spTree>
      <p:nvGrpSpPr>
        <p:cNvPr id="1" name=""/>
        <p:cNvGrpSpPr/>
        <p:nvPr/>
      </p:nvGrpSpPr>
      <p:grpSpPr>
        <a:xfrm>
          <a:off x="0" y="0"/>
          <a:ext cx="0" cy="0"/>
          <a:chOff x="0" y="0"/>
          <a:chExt cx="0" cy="0"/>
        </a:xfrm>
      </p:grpSpPr>
      <p:pic>
        <p:nvPicPr>
          <p:cNvPr id="2" name="Image 0" descr="Where guests slip away toda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10E"/>
        </a:solidFill>
      </p:bgPr>
    </p:bg>
    <p:spTree>
      <p:nvGrpSpPr>
        <p:cNvPr id="1" name=""/>
        <p:cNvGrpSpPr/>
        <p:nvPr/>
      </p:nvGrpSpPr>
      <p:grpSpPr>
        <a:xfrm>
          <a:off x="0" y="0"/>
          <a:ext cx="0" cy="0"/>
          <a:chOff x="0" y="0"/>
          <a:chExt cx="0" cy="0"/>
        </a:xfrm>
      </p:grpSpPr>
      <p:pic>
        <p:nvPicPr>
          <p:cNvPr id="2" name="Image 0" descr="The numbers behind those leak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10E"/>
        </a:solidFill>
      </p:bgPr>
    </p:bg>
    <p:spTree>
      <p:nvGrpSpPr>
        <p:cNvPr id="1" name=""/>
        <p:cNvGrpSpPr/>
        <p:nvPr/>
      </p:nvGrpSpPr>
      <p:grpSpPr>
        <a:xfrm>
          <a:off x="0" y="0"/>
          <a:ext cx="0" cy="0"/>
          <a:chOff x="0" y="0"/>
          <a:chExt cx="0" cy="0"/>
        </a:xfrm>
      </p:grpSpPr>
      <p:pic>
        <p:nvPicPr>
          <p:cNvPr id="2" name="Image 0" descr="One system. We call it Hapa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10E"/>
        </a:solidFill>
      </p:bgPr>
    </p:bg>
    <p:spTree>
      <p:nvGrpSpPr>
        <p:cNvPr id="1" name=""/>
        <p:cNvGrpSpPr/>
        <p:nvPr/>
      </p:nvGrpSpPr>
      <p:grpSpPr>
        <a:xfrm>
          <a:off x="0" y="0"/>
          <a:ext cx="0" cy="0"/>
          <a:chOff x="0" y="0"/>
          <a:chExt cx="0" cy="0"/>
        </a:xfrm>
      </p:grpSpPr>
      <p:pic>
        <p:nvPicPr>
          <p:cNvPr id="2" name="Image 0" descr="Order direct. Keep the whole pes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10E"/>
        </a:solidFill>
      </p:bgPr>
    </p:bg>
    <p:spTree>
      <p:nvGrpSpPr>
        <p:cNvPr id="1" name=""/>
        <p:cNvGrpSpPr/>
        <p:nvPr/>
      </p:nvGrpSpPr>
      <p:grpSpPr>
        <a:xfrm>
          <a:off x="0" y="0"/>
          <a:ext cx="0" cy="0"/>
          <a:chOff x="0" y="0"/>
          <a:chExt cx="0" cy="0"/>
        </a:xfrm>
      </p:grpSpPr>
      <p:pic>
        <p:nvPicPr>
          <p:cNvPr id="2" name="Image 0" descr="Tap the card. Leave a review. Get found on Map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10E"/>
        </a:solidFill>
      </p:bgPr>
    </p:bg>
    <p:spTree>
      <p:nvGrpSpPr>
        <p:cNvPr id="1" name=""/>
        <p:cNvGrpSpPr/>
        <p:nvPr/>
      </p:nvGrpSpPr>
      <p:grpSpPr>
        <a:xfrm>
          <a:off x="0" y="0"/>
          <a:ext cx="0" cy="0"/>
          <a:chOff x="0" y="0"/>
          <a:chExt cx="0" cy="0"/>
        </a:xfrm>
      </p:grpSpPr>
      <p:pic>
        <p:nvPicPr>
          <p:cNvPr id="2" name="Image 0" descr="Reach every town on your stretch of highwa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10E"/>
        </a:solidFill>
      </p:bgPr>
    </p:bg>
    <p:spTree>
      <p:nvGrpSpPr>
        <p:cNvPr id="1" name=""/>
        <p:cNvGrpSpPr/>
        <p:nvPr/>
      </p:nvGrpSpPr>
      <p:grpSpPr>
        <a:xfrm>
          <a:off x="0" y="0"/>
          <a:ext cx="0" cy="0"/>
          <a:chOff x="0" y="0"/>
          <a:chExt cx="0" cy="0"/>
        </a:xfrm>
      </p:grpSpPr>
      <p:pic>
        <p:nvPicPr>
          <p:cNvPr id="2" name="Image 0" descr="One bill. Three kitchen tickets. Three clear repor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10E"/>
        </a:solidFill>
      </p:bgPr>
    </p:bg>
    <p:spTree>
      <p:nvGrpSpPr>
        <p:cNvPr id="1" name=""/>
        <p:cNvGrpSpPr/>
        <p:nvPr/>
      </p:nvGrpSpPr>
      <p:grpSpPr>
        <a:xfrm>
          <a:off x="0" y="0"/>
          <a:ext cx="0" cy="0"/>
          <a:chOff x="0" y="0"/>
          <a:chExt cx="0" cy="0"/>
        </a:xfrm>
      </p:grpSpPr>
      <p:pic>
        <p:nvPicPr>
          <p:cNvPr id="2" name="Image 0" descr="Know what's in the freezer and what each plate cos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10E"/>
        </a:solidFill>
      </p:bgPr>
    </p:bg>
    <p:spTree>
      <p:nvGrpSpPr>
        <p:cNvPr id="1" name=""/>
        <p:cNvGrpSpPr/>
        <p:nvPr/>
      </p:nvGrpSpPr>
      <p:grpSpPr>
        <a:xfrm>
          <a:off x="0" y="0"/>
          <a:ext cx="0" cy="0"/>
          <a:chOff x="0" y="0"/>
          <a:chExt cx="0" cy="0"/>
        </a:xfrm>
      </p:grpSpPr>
      <p:pic>
        <p:nvPicPr>
          <p:cNvPr id="2" name="Image 0" descr="Clock in, clock out. Payroll ready on cut-off da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10E"/>
        </a:solidFill>
      </p:bgPr>
    </p:bg>
    <p:spTree>
      <p:nvGrpSpPr>
        <p:cNvPr id="1" name=""/>
        <p:cNvGrpSpPr/>
        <p:nvPr/>
      </p:nvGrpSpPr>
      <p:grpSpPr>
        <a:xfrm>
          <a:off x="0" y="0"/>
          <a:ext cx="0" cy="0"/>
          <a:chOff x="0" y="0"/>
          <a:chExt cx="0" cy="0"/>
        </a:xfrm>
      </p:grpSpPr>
      <p:pic>
        <p:nvPicPr>
          <p:cNvPr id="2" name="Image 0" descr="Give every guest a reason to come back.">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10E"/>
        </a:solidFill>
      </p:bgPr>
    </p:bg>
    <p:spTree>
      <p:nvGrpSpPr>
        <p:cNvPr id="1" name=""/>
        <p:cNvGrpSpPr/>
        <p:nvPr/>
      </p:nvGrpSpPr>
      <p:grpSpPr>
        <a:xfrm>
          <a:off x="0" y="0"/>
          <a:ext cx="0" cy="0"/>
          <a:chOff x="0" y="0"/>
          <a:chExt cx="0" cy="0"/>
        </a:xfrm>
      </p:grpSpPr>
      <p:pic>
        <p:nvPicPr>
          <p:cNvPr id="2" name="Image 0" descr="Juval's and Lucia's, at a glance, from anywhe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10E"/>
        </a:solidFill>
      </p:bgPr>
    </p:bg>
    <p:spTree>
      <p:nvGrpSpPr>
        <p:cNvPr id="1" name=""/>
        <p:cNvGrpSpPr/>
        <p:nvPr/>
      </p:nvGrpSpPr>
      <p:grpSpPr>
        <a:xfrm>
          <a:off x="0" y="0"/>
          <a:ext cx="0" cy="0"/>
          <a:chOff x="0" y="0"/>
          <a:chExt cx="0" cy="0"/>
        </a:xfrm>
      </p:grpSpPr>
      <p:pic>
        <p:nvPicPr>
          <p:cNvPr id="2" name="Image 0" descr="Each part makes the next one work bett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10E"/>
        </a:solidFill>
      </p:bgPr>
    </p:bg>
    <p:spTree>
      <p:nvGrpSpPr>
        <p:cNvPr id="1" name=""/>
        <p:cNvGrpSpPr/>
        <p:nvPr/>
      </p:nvGrpSpPr>
      <p:grpSpPr>
        <a:xfrm>
          <a:off x="0" y="0"/>
          <a:ext cx="0" cy="0"/>
          <a:chOff x="0" y="0"/>
          <a:chExt cx="0" cy="0"/>
        </a:xfrm>
      </p:grpSpPr>
      <p:pic>
        <p:nvPicPr>
          <p:cNvPr id="2" name="Image 0" descr="Live in stages, starting this mont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15110E"/>
        </a:solidFill>
      </p:bgPr>
    </p:bg>
    <p:spTree>
      <p:nvGrpSpPr>
        <p:cNvPr id="1" name=""/>
        <p:cNvGrpSpPr/>
        <p:nvPr/>
      </p:nvGrpSpPr>
      <p:grpSpPr>
        <a:xfrm>
          <a:off x="0" y="0"/>
          <a:ext cx="0" cy="0"/>
          <a:chOff x="0" y="0"/>
          <a:chExt cx="0" cy="0"/>
        </a:xfrm>
      </p:grpSpPr>
      <p:pic>
        <p:nvPicPr>
          <p:cNvPr id="2" name="Image 0" descr="Start small. Add the rest when it pays for itself.">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110E"/>
        </a:solidFill>
      </p:bgPr>
    </p:bg>
    <p:spTree>
      <p:nvGrpSpPr>
        <p:cNvPr id="1" name=""/>
        <p:cNvGrpSpPr/>
        <p:nvPr/>
      </p:nvGrpSpPr>
      <p:grpSpPr>
        <a:xfrm>
          <a:off x="0" y="0"/>
          <a:ext cx="0" cy="0"/>
          <a:chOff x="0" y="0"/>
          <a:chExt cx="0" cy="0"/>
        </a:xfrm>
      </p:grpSpPr>
      <p:pic>
        <p:nvPicPr>
          <p:cNvPr id="2" name="Image 0" descr="Targets we will report on every mont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10E"/>
        </a:solidFill>
      </p:bgPr>
    </p:bg>
    <p:spTree>
      <p:nvGrpSpPr>
        <p:cNvPr id="1" name=""/>
        <p:cNvGrpSpPr/>
        <p:nvPr/>
      </p:nvGrpSpPr>
      <p:grpSpPr>
        <a:xfrm>
          <a:off x="0" y="0"/>
          <a:ext cx="0" cy="0"/>
          <a:chOff x="0" y="0"/>
          <a:chExt cx="0" cy="0"/>
        </a:xfrm>
      </p:grpSpPr>
      <p:pic>
        <p:nvPicPr>
          <p:cNvPr id="2" name="Image 0" descr="Built in Cagayan, for restaurants like you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110E"/>
        </a:solidFill>
      </p:bgPr>
    </p:bg>
    <p:spTree>
      <p:nvGrpSpPr>
        <p:cNvPr id="1" name=""/>
        <p:cNvGrpSpPr/>
        <p:nvPr/>
      </p:nvGrpSpPr>
      <p:grpSpPr>
        <a:xfrm>
          <a:off x="0" y="0"/>
          <a:ext cx="0" cy="0"/>
          <a:chOff x="0" y="0"/>
          <a:chExt cx="0" cy="0"/>
        </a:xfrm>
      </p:grpSpPr>
      <p:pic>
        <p:nvPicPr>
          <p:cNvPr id="2" name="Image 0" descr="Next step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IVNautomation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Juval's Growth Plan</dc:title>
  <dc:subject>PptxGenJS Presentation</dc:subject>
  <dc:creator>IVNautomation</dc:creator>
  <cp:lastModifiedBy>IVNautomation</cp:lastModifiedBy>
  <cp:revision>1</cp:revision>
  <dcterms:created xsi:type="dcterms:W3CDTF">2026-10-04T22:36:17Z</dcterms:created>
  <dcterms:modified xsi:type="dcterms:W3CDTF">2026-10-04T22:36:17Z</dcterms:modified>
</cp:coreProperties>
</file>